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6FDB"/>
                </a:solidFill>
                <a:latin typeface="Inter"/>
              </a:rPr>
              <a:t>MECH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B212C"/>
                </a:solidFill>
                <a:latin typeface="Inter"/>
              </a:rPr>
              <a:t>Going API-first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06A7C"/>
                </a:solidFill>
                <a:latin typeface="Inter"/>
              </a:rPr>
              <a:t>Opening the marketplace to HTTP-native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37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212C"/>
                </a:solidFill>
                <a:latin typeface="Inter"/>
              </a:rPr>
              <a:t>Two proposed solutions:  x402  or  MPP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6FDB"/>
                </a:solidFill>
                <a:latin typeface="Inter"/>
              </a:rPr>
              <a:t>We pick one for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26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A7C"/>
                </a:solidFill>
                <a:latin typeface="Inter"/>
              </a:rPr>
              <a:t>Internal review,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Why this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Most paid-API agents today cannot talk to the marketplace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212C"/>
                </a:solidFill>
                <a:latin typeface="Inter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Clients must pre-deposit into a BalanceTracker before sending a request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Every request is an on-chain transaction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Discovery is on-chain: requesters must already know the mech address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No HTTP 402, no agent-friendly retry pattern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Native to autonomous services. Hostile to anonymous HTTP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394960" cy="4572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A6FDB"/>
                </a:solidFill>
                <a:latin typeface="Inter"/>
              </a:rPr>
              <a:t>Where AI agents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LLM agents discover services via HTTP catalogs (x402scan, Bazaar, MPPscan)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They expect HTTP 402 with a payment challenge, sign, retry, done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They do not run autonomous services and will not pre-deposit funds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x402 ecosystem: ~14,000 services indexed today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MPP ecosystem: IETF standards track, smaller but growing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We propose two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Add one new payment family. Choose between two candidates.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6A7C"/>
                </a:solidFill>
                <a:latin typeface="Inter"/>
              </a:rPr>
              <a:t>EXISTING (UNCHANGED)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4572000" cy="1005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402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B212C"/>
                </a:solidFill>
                <a:latin typeface="Inter"/>
              </a:rPr>
              <a:t>Native</a:t>
            </a:r>
          </a:p>
          <a:p>
            <a:pPr algn="ctr"/>
            <a:r>
              <a:rPr sz="1200" b="1">
                <a:solidFill>
                  <a:srgbClr val="1B212C"/>
                </a:solidFill>
                <a:latin typeface="Inter"/>
              </a:rPr>
              <a:t>(xDAI / ETH)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7880" y="2331720"/>
            <a:ext cx="1402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B212C"/>
                </a:solidFill>
                <a:latin typeface="Inter"/>
              </a:rPr>
              <a:t>Token</a:t>
            </a:r>
          </a:p>
          <a:p>
            <a:pPr algn="ctr"/>
            <a:r>
              <a:rPr sz="1200" b="1">
                <a:solidFill>
                  <a:srgbClr val="1B212C"/>
                </a:solidFill>
                <a:latin typeface="Inter"/>
              </a:rPr>
              <a:t>(USDC / OLAS)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5680" y="2331720"/>
            <a:ext cx="1402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B212C"/>
                </a:solidFill>
                <a:latin typeface="Inter"/>
              </a:rPr>
              <a:t>NVM Sub.</a:t>
            </a:r>
          </a:p>
          <a:p>
            <a:pPr algn="ctr"/>
            <a:r>
              <a:rPr sz="1200" b="1">
                <a:solidFill>
                  <a:srgbClr val="1B212C"/>
                </a:solidFill>
                <a:latin typeface="Inter"/>
              </a:rPr>
              <a:t>(Nevermined)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2423160"/>
            <a:ext cx="594360" cy="594360"/>
          </a:xfrm>
          <a:prstGeom prst="roundRect">
            <a:avLst>
              <a:gd name="adj" fmla="val 6000"/>
            </a:avLst>
          </a:prstGeom>
          <a:solidFill>
            <a:srgbClr val="1B212C"/>
          </a:solidFill>
          <a:ln w="9525">
            <a:solidFill>
              <a:srgbClr val="1B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40680" y="24231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6FDB"/>
                </a:solidFill>
                <a:latin typeface="Inter"/>
              </a:rPr>
              <a:t>NEW (PICK ONE)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194560"/>
            <a:ext cx="2514600" cy="1005840"/>
          </a:xfrm>
          <a:prstGeom prst="roundRect">
            <a:avLst>
              <a:gd name="adj" fmla="val 6000"/>
            </a:avLst>
          </a:prstGeom>
          <a:solidFill>
            <a:srgbClr val="FBEFE3"/>
          </a:solidFill>
          <a:ln w="19050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6B2A"/>
                </a:solidFill>
                <a:latin typeface="Inter"/>
              </a:rPr>
              <a:t>OPTION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B212C"/>
                </a:solidFill>
                <a:latin typeface="Inter"/>
              </a:rPr>
              <a:t>x402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077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A7C"/>
                </a:solidFill>
                <a:latin typeface="Inter"/>
              </a:rPr>
              <a:t>per-request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2468880"/>
            <a:ext cx="2011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B212C"/>
                </a:solidFill>
                <a:latin typeface="Inter"/>
              </a:rPr>
              <a:t>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194560"/>
            <a:ext cx="2514600" cy="1005840"/>
          </a:xfrm>
          <a:prstGeom prst="roundRect">
            <a:avLst>
              <a:gd name="adj" fmla="val 6000"/>
            </a:avLst>
          </a:prstGeom>
          <a:solidFill>
            <a:srgbClr val="E8F5EF"/>
          </a:solidFill>
          <a:ln w="1905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81160" y="22402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9E6F"/>
                </a:solidFill>
                <a:latin typeface="Inter"/>
              </a:rPr>
              <a:t>OPTION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46888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B212C"/>
                </a:solidFill>
                <a:latin typeface="Inter"/>
              </a:rPr>
              <a:t>MPP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9077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A7C"/>
                </a:solidFill>
                <a:latin typeface="Inter"/>
              </a:rPr>
              <a:t>channel-based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75607" y="3840480"/>
            <a:ext cx="3840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B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175607" y="384048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B212C"/>
                </a:solidFill>
                <a:latin typeface="Inter"/>
              </a:rPr>
              <a:t>MechMarketplace  (unchanged)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095847" y="3200400"/>
            <a:ext cx="0" cy="1417320"/>
          </a:xfrm>
          <a:prstGeom prst="bentConnector3">
            <a:avLst/>
          </a:prstGeom>
          <a:ln w="12700">
            <a:solidFill>
              <a:srgbClr val="606A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54864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212C"/>
                </a:solidFill>
                <a:latin typeface="Inter"/>
              </a:rPr>
              <a:t>Either family plugs in through the existing paymentType registry.</a:t>
            </a:r>
          </a:p>
          <a:p>
            <a:pPr algn="ctr"/>
            <a:r>
              <a:rPr sz="1400" b="0">
                <a:solidFill>
                  <a:srgbClr val="1B212C"/>
                </a:solidFill>
                <a:latin typeface="Inter"/>
              </a:rPr>
              <a:t>Zero changes to MechMarketplace, OlasMech, Karma, or fee logic.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Today's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Pre-deposit on-chain, then batched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11880" cy="411480"/>
          </a:xfrm>
          <a:prstGeom prst="roundRect">
            <a:avLst>
              <a:gd name="adj" fmla="val 6000"/>
            </a:avLst>
          </a:prstGeom>
          <a:solidFill>
            <a:srgbClr val="1B212C"/>
          </a:solidFill>
          <a:ln w="9525">
            <a:solidFill>
              <a:srgbClr val="1B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611880" cy="411480"/>
          </a:xfrm>
          <a:prstGeom prst="roundRect">
            <a:avLst>
              <a:gd name="adj" fmla="val 6000"/>
            </a:avLst>
          </a:prstGeom>
          <a:solidFill>
            <a:srgbClr val="1B212C"/>
          </a:solidFill>
          <a:ln w="9525">
            <a:solidFill>
              <a:srgbClr val="1B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43400" y="155448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Mech (off-chain)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611880" cy="411480"/>
          </a:xfrm>
          <a:prstGeom prst="roundRect">
            <a:avLst>
              <a:gd name="adj" fmla="val 6000"/>
            </a:avLst>
          </a:prstGeom>
          <a:solidFill>
            <a:srgbClr val="1B212C"/>
          </a:solidFill>
          <a:ln w="9525">
            <a:solidFill>
              <a:srgbClr val="1B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0" y="155448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On-chain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6596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13232" y="868680"/>
            <a:ext cx="3282696" cy="594360"/>
          </a:xfrm>
          <a:prstGeom prst="roundRect">
            <a:avLst>
              <a:gd name="adj" fmla="val 6000"/>
            </a:avLst>
          </a:prstGeom>
          <a:solidFill>
            <a:srgbClr val="FBEFE3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50392" y="941832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1. Deposit USDC</a:t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   into BalanceTracker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1280160"/>
            <a:ext cx="3008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06B2A"/>
                </a:solidFill>
                <a:latin typeface="Inter"/>
              </a:rPr>
              <a:t>on-chain tx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417320"/>
            <a:ext cx="3282696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39912" y="1490472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deposit credited</a:t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to mapRequesterBalances[client]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103120"/>
            <a:ext cx="3282696" cy="594360"/>
          </a:xfrm>
          <a:prstGeom prst="roundRect">
            <a:avLst>
              <a:gd name="adj" fmla="val 6000"/>
            </a:avLst>
          </a:prstGeom>
          <a:solidFill>
            <a:srgbClr val="FBEFE3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50392" y="2176272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2. Submit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2514600"/>
            <a:ext cx="3008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06B2A"/>
                </a:solidFill>
                <a:latin typeface="Inter"/>
              </a:rPr>
              <a:t>on-chain tx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02752" y="2651760"/>
            <a:ext cx="3282696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39912" y="2724912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MechMarketplace.request()</a:t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records requestId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07992" y="3337560"/>
            <a:ext cx="3282696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45152" y="3410712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3. Mech picks up request,</a:t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executes tool, prepares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3749039"/>
            <a:ext cx="3008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06A7C"/>
                </a:solidFill>
                <a:latin typeface="Inter"/>
              </a:rPr>
              <a:t>off-chain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2752" y="4160520"/>
            <a:ext cx="3282696" cy="594360"/>
          </a:xfrm>
          <a:prstGeom prst="roundRect">
            <a:avLst>
              <a:gd name="adj" fmla="val 6000"/>
            </a:avLst>
          </a:prstGeom>
          <a:solidFill>
            <a:srgbClr val="FBEFE3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39912" y="4233672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4. deliverMarketplace</a:t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balance debit + karma + fees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4572000"/>
            <a:ext cx="3008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06B2A"/>
                </a:solidFill>
                <a:latin typeface="Inter"/>
              </a:rPr>
              <a:t>on-chain tx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07992" y="4937760"/>
            <a:ext cx="3282696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45152" y="5010912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5. Result returned to client</a:t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via subgraph / callback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5349240"/>
            <a:ext cx="3008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06A7C"/>
                </a:solidFill>
                <a:latin typeface="Inter"/>
              </a:rPr>
              <a:t>off-chain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636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A7C"/>
                </a:solidFill>
                <a:latin typeface="Inter"/>
              </a:rPr>
              <a:t>Per request: at least 2 on-chain transactions (deposit, deliver). Batching helps once deposit is in.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Option A, x402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Pay-per-request, signed USDC authorization, no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371600" cy="320040"/>
          </a:xfrm>
          <a:prstGeom prst="roundRect">
            <a:avLst>
              <a:gd name="adj" fmla="val 6000"/>
            </a:avLst>
          </a:prstGeom>
          <a:solidFill>
            <a:srgbClr val="E06B2A"/>
          </a:solidFill>
          <a:ln w="9525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OPTION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669280" cy="4572000"/>
          </a:xfrm>
          <a:prstGeom prst="roundRect">
            <a:avLst>
              <a:gd name="adj" fmla="val 6000"/>
            </a:avLst>
          </a:prstGeom>
          <a:solidFill>
            <a:srgbClr val="FBEFE3"/>
          </a:solidFill>
          <a:ln w="15240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06B2A"/>
                </a:solidFill>
                <a:latin typeface="Inter"/>
              </a:rPr>
              <a:t>What x402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Coinbase's open HTTP payment standard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Client signs an EIP-3009 USDC transferWithAuthorization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Mech returns HTTP 402, client retries with X-Payment header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One settlement transaction per request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Already a 14k-service ecosystem on x402scan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Optimus already uses an x402 client in production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54480"/>
            <a:ext cx="5669280" cy="4572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20840" y="17373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212C"/>
                </a:solidFill>
                <a:latin typeface="Inter"/>
              </a:rPr>
              <a:t>What we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377440"/>
            <a:ext cx="512064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03720" y="23774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B212C"/>
                </a:solidFill>
                <a:latin typeface="Inter"/>
              </a:rPr>
              <a:t>BalanceTrackerX402.sol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2880360"/>
            <a:ext cx="512064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03720" y="28803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B212C"/>
                </a:solidFill>
                <a:latin typeface="Inter"/>
              </a:rPr>
              <a:t>MechFixedPriceTokenX402.sol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383280"/>
            <a:ext cx="512064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03720" y="3383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B212C"/>
                </a:solidFill>
                <a:latin typeface="Inter"/>
              </a:rPr>
              <a:t>MechFactoryFixedPriceTokenX402.sol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023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6A7C"/>
                </a:solidFill>
                <a:latin typeface="Inter"/>
              </a:rPr>
              <a:t>Unchanged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434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Inter"/>
              </a:rPr>
              <a:t>•  MechMarketplace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70915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Inter"/>
              </a:rPr>
              <a:t>•  OlasMech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983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Inter"/>
              </a:rPr>
              <a:t>•  Karma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52578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Inter"/>
              </a:rPr>
              <a:t>•  All existing BalanceTrackers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56235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06A7C"/>
                </a:solidFill>
                <a:latin typeface="Inter"/>
              </a:rPr>
              <a:t>Spec: docs/x402_spec.md  •  PR #148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Option A flow, x402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Each request is independently settled on-chain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371600" cy="320040"/>
          </a:xfrm>
          <a:prstGeom prst="roundRect">
            <a:avLst>
              <a:gd name="adj" fmla="val 6000"/>
            </a:avLst>
          </a:prstGeom>
          <a:solidFill>
            <a:srgbClr val="E06B2A"/>
          </a:solidFill>
          <a:ln w="9525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OPTION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411480"/>
          </a:xfrm>
          <a:prstGeom prst="roundRect">
            <a:avLst>
              <a:gd name="adj" fmla="val 6000"/>
            </a:avLst>
          </a:prstGeom>
          <a:solidFill>
            <a:srgbClr val="1B212C"/>
          </a:solidFill>
          <a:ln w="9525">
            <a:solidFill>
              <a:srgbClr val="1B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611880" cy="3886200"/>
          </a:xfrm>
          <a:prstGeom prst="roundRect">
            <a:avLst>
              <a:gd name="adj" fmla="val 6000"/>
            </a:avLst>
          </a:prstGeom>
          <a:solidFill>
            <a:srgbClr val="FBEFE3"/>
          </a:solidFill>
          <a:ln w="9525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611880" cy="411480"/>
          </a:xfrm>
          <a:prstGeom prst="roundRect">
            <a:avLst>
              <a:gd name="adj" fmla="val 6000"/>
            </a:avLst>
          </a:prstGeom>
          <a:solidFill>
            <a:srgbClr val="1B212C"/>
          </a:solidFill>
          <a:ln w="9525">
            <a:solidFill>
              <a:srgbClr val="1B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43400" y="155448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Mech (off-chain)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65960"/>
            <a:ext cx="3611880" cy="3886200"/>
          </a:xfrm>
          <a:prstGeom prst="roundRect">
            <a:avLst>
              <a:gd name="adj" fmla="val 6000"/>
            </a:avLst>
          </a:prstGeom>
          <a:solidFill>
            <a:srgbClr val="FBEFE3"/>
          </a:solidFill>
          <a:ln w="9525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611880" cy="411480"/>
          </a:xfrm>
          <a:prstGeom prst="roundRect">
            <a:avLst>
              <a:gd name="adj" fmla="val 6000"/>
            </a:avLst>
          </a:prstGeom>
          <a:solidFill>
            <a:srgbClr val="1B212C"/>
          </a:solidFill>
          <a:ln w="9525">
            <a:solidFill>
              <a:srgbClr val="1B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38160" y="155448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On-chain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65960"/>
            <a:ext cx="3611880" cy="3886200"/>
          </a:xfrm>
          <a:prstGeom prst="roundRect">
            <a:avLst>
              <a:gd name="adj" fmla="val 6000"/>
            </a:avLst>
          </a:prstGeom>
          <a:solidFill>
            <a:srgbClr val="FBEFE3"/>
          </a:solidFill>
          <a:ln w="9525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85800" y="868680"/>
            <a:ext cx="33375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5528" y="914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1. POST /predict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1417320"/>
            <a:ext cx="33375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90288" y="1463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2. HTTP 402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quote = maxRate + fee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103120"/>
            <a:ext cx="33375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5528" y="214883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3. Sign EIP-3009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(transferWithAuth)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697480"/>
            <a:ext cx="33375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95528" y="27432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4. POST /predict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with X-Payment hdr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291840"/>
            <a:ext cx="33375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90288" y="33375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5. Verify sig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(in-process)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Run tool, return 200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023360"/>
            <a:ext cx="333756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85048" y="4069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6. deliverMarketplace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WithSignatures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paymentData = EIP-3009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389120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06B2A"/>
                </a:solidFill>
                <a:latin typeface="Inter"/>
              </a:rPr>
              <a:t>on-chain tx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5074920"/>
            <a:ext cx="33375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85048" y="5120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USDC.transferWithAuth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funds: client → BalTrackerX402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5440680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06B2A"/>
                </a:solidFill>
                <a:latin typeface="Inter"/>
              </a:rPr>
              <a:t>single settlement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264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B212C"/>
                </a:solidFill>
                <a:latin typeface="Inter"/>
              </a:rPr>
              <a:t>Every request = 1 on-chain settlement transaction. No batching possible (EIP-3009 sig is single-use).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Option B, MPP session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Channel-based payments, near-zero per-request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371600" cy="320040"/>
          </a:xfrm>
          <a:prstGeom prst="roundRect">
            <a:avLst>
              <a:gd name="adj" fmla="val 6000"/>
            </a:avLst>
          </a:prstGeom>
          <a:solidFill>
            <a:srgbClr val="1A9E6F"/>
          </a:solidFill>
          <a:ln w="9525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OPTION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669280" cy="4572000"/>
          </a:xfrm>
          <a:prstGeom prst="roundRect">
            <a:avLst>
              <a:gd name="adj" fmla="val 6000"/>
            </a:avLst>
          </a:prstGeom>
          <a:solidFill>
            <a:srgbClr val="E8F5EF"/>
          </a:solidFill>
          <a:ln w="1524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9E6F"/>
                </a:solidFill>
                <a:latin typeface="Inter"/>
              </a:rPr>
              <a:t>What MPP session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Tempo/Stripe's open payment protocol, IETF standards track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Client opens a channel once by depositing USDC into MppEscrow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Each request: sign EIP-712 voucher locally, no on-chain tx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Server batches deliveries and settles once via escrow.settle()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Already running in production: pearl-mini ↔ wildcard server</a:t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B212C"/>
                </a:solidFill>
                <a:latin typeface="Inter"/>
              </a:rPr>
              <a:t>Verification off-chain (eth_account.recover), same as wildcard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54480"/>
            <a:ext cx="5669280" cy="4572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20840" y="17373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212C"/>
                </a:solidFill>
                <a:latin typeface="Inter"/>
              </a:rPr>
              <a:t>What we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331720"/>
            <a:ext cx="512064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03720" y="23317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212C"/>
                </a:solidFill>
                <a:latin typeface="Inter"/>
              </a:rPr>
              <a:t>MppEscrow.sol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3317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06A7C"/>
                </a:solidFill>
                <a:latin typeface="Inter"/>
              </a:rPr>
              <a:t>1 per chain, shared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834640"/>
            <a:ext cx="512064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903720" y="28346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212C"/>
                </a:solidFill>
                <a:latin typeface="Inter"/>
              </a:rPr>
              <a:t>BalanceTrackerMppSession.sol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06A7C"/>
                </a:solidFill>
                <a:latin typeface="Inter"/>
              </a:rPr>
              <a:t>delegates to escrow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3337560"/>
            <a:ext cx="512064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903720" y="333756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212C"/>
                </a:solidFill>
                <a:latin typeface="Inter"/>
              </a:rPr>
              <a:t>MechFixedPriceTokenMppSession.sol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333756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06A7C"/>
                </a:solidFill>
                <a:latin typeface="Inter"/>
              </a:rPr>
              <a:t>PAYMENT_TYPE constant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3840480"/>
            <a:ext cx="512064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903720" y="38404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212C"/>
                </a:solidFill>
                <a:latin typeface="Inter"/>
              </a:rPr>
              <a:t>MechFactoryFixedPriceTokenMppSession.sol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38404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06A7C"/>
                </a:solidFill>
                <a:latin typeface="Inter"/>
              </a:rPr>
              <a:t>CREATE2 factory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526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6A7C"/>
                </a:solidFill>
                <a:latin typeface="Inter"/>
              </a:rPr>
              <a:t>Unchanged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937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Inter"/>
              </a:rPr>
              <a:t>•  MechMarketplace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212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Inter"/>
              </a:rPr>
              <a:t>•  OlasMech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4864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Inter"/>
              </a:rPr>
              <a:t>•  Karma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760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Inter"/>
              </a:rPr>
              <a:t>•  All other BalanceTrackers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6080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06A7C"/>
                </a:solidFill>
                <a:latin typeface="Inter"/>
              </a:rPr>
              <a:t>Spec: docs/mpp_session_spec.md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Option B flow, MPP session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One channel open, N off-chain vouchers, one batched settlement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411480"/>
            <a:ext cx="1371600" cy="320040"/>
          </a:xfrm>
          <a:prstGeom prst="roundRect">
            <a:avLst>
              <a:gd name="adj" fmla="val 6000"/>
            </a:avLst>
          </a:prstGeom>
          <a:solidFill>
            <a:srgbClr val="1A9E6F"/>
          </a:solidFill>
          <a:ln w="9525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OPTION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411480"/>
          </a:xfrm>
          <a:prstGeom prst="roundRect">
            <a:avLst>
              <a:gd name="adj" fmla="val 6000"/>
            </a:avLst>
          </a:prstGeom>
          <a:solidFill>
            <a:srgbClr val="1B212C"/>
          </a:solidFill>
          <a:ln w="9525">
            <a:solidFill>
              <a:srgbClr val="1B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611880" cy="3886200"/>
          </a:xfrm>
          <a:prstGeom prst="roundRect">
            <a:avLst>
              <a:gd name="adj" fmla="val 6000"/>
            </a:avLst>
          </a:prstGeom>
          <a:solidFill>
            <a:srgbClr val="E8F5EF"/>
          </a:solidFill>
          <a:ln w="9525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611880" cy="411480"/>
          </a:xfrm>
          <a:prstGeom prst="roundRect">
            <a:avLst>
              <a:gd name="adj" fmla="val 6000"/>
            </a:avLst>
          </a:prstGeom>
          <a:solidFill>
            <a:srgbClr val="1B212C"/>
          </a:solidFill>
          <a:ln w="9525">
            <a:solidFill>
              <a:srgbClr val="1B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43400" y="155448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Mech (off-chain)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65960"/>
            <a:ext cx="3611880" cy="3886200"/>
          </a:xfrm>
          <a:prstGeom prst="roundRect">
            <a:avLst>
              <a:gd name="adj" fmla="val 6000"/>
            </a:avLst>
          </a:prstGeom>
          <a:solidFill>
            <a:srgbClr val="E8F5EF"/>
          </a:solidFill>
          <a:ln w="9525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611880" cy="411480"/>
          </a:xfrm>
          <a:prstGeom prst="roundRect">
            <a:avLst>
              <a:gd name="adj" fmla="val 6000"/>
            </a:avLst>
          </a:prstGeom>
          <a:solidFill>
            <a:srgbClr val="1B212C"/>
          </a:solidFill>
          <a:ln w="9525">
            <a:solidFill>
              <a:srgbClr val="1B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38160" y="155448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On-chain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65960"/>
            <a:ext cx="3611880" cy="3886200"/>
          </a:xfrm>
          <a:prstGeom prst="roundRect">
            <a:avLst>
              <a:gd name="adj" fmla="val 6000"/>
            </a:avLst>
          </a:prstGeom>
          <a:solidFill>
            <a:srgbClr val="E8F5EF"/>
          </a:solidFill>
          <a:ln w="9525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85800" y="868680"/>
            <a:ext cx="33375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5528" y="914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1. POST /predict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1417320"/>
            <a:ext cx="33375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90288" y="1463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2. HTTP 402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+ MPP challenge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103120"/>
            <a:ext cx="3337560" cy="594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5528" y="214883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3. MppEscrow.open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lock $0.50 deposit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2514600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A9E6F"/>
                </a:solidFill>
                <a:latin typeface="Inter"/>
              </a:rPr>
              <a:t>on-chain tx (once)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200400"/>
            <a:ext cx="33375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95528" y="3246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4. Sign voucher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{channelId, cumulative+}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94760"/>
            <a:ext cx="33375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95528" y="38404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5. POST + voucher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389120"/>
            <a:ext cx="33375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90288" y="44348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6. verify_voucher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run tool, return 200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5074920"/>
            <a:ext cx="33375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90288" y="5120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(repeat 4-6 for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requests 2..N, OFF-CHAIN)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212080"/>
            <a:ext cx="3337560" cy="594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85048" y="5257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7. deliverMarketplace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WithSignatures</a:t>
            </a:r>
          </a:p>
          <a:p>
            <a:pPr algn="l"/>
            <a:r>
              <a:rPr sz="1050" b="0">
                <a:solidFill>
                  <a:srgbClr val="1B212C"/>
                </a:solidFill>
                <a:latin typeface="Inter"/>
              </a:rPr>
              <a:t>N deliveries + latest voucher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5623560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A9E6F"/>
                </a:solidFill>
                <a:latin typeface="Inter"/>
              </a:rPr>
              <a:t>on-chain tx (1 per batch)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1264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B212C"/>
                </a:solidFill>
                <a:latin typeface="Inter"/>
              </a:rPr>
              <a:t>Result: 1 open + 1 settle covers many deliveries. Per-request gas = 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Flow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Same client doing 10 requests, all three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6A7C"/>
                </a:solidFill>
                <a:latin typeface="Inter"/>
              </a:rPr>
              <a:t>Today (pre-deposit)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9202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606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743200" y="19202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deposit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4231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06A7C"/>
                </a:solidFill>
                <a:latin typeface="Inter"/>
              </a:rPr>
              <a:t>ON-CHAIN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9202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606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231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06A7C"/>
                </a:solidFill>
                <a:latin typeface="Inter"/>
              </a:rPr>
              <a:t>ON-CHAIN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202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606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231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06A7C"/>
                </a:solidFill>
                <a:latin typeface="Inter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202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606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92440" y="19202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4231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06A7C"/>
                </a:solidFill>
                <a:latin typeface="Inter"/>
              </a:rPr>
              <a:t>ON-CHAIN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19202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606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875520" y="19202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deliver (batched)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4231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06A7C"/>
                </a:solidFill>
                <a:latin typeface="Inter"/>
              </a:rPr>
              <a:t>ON-CHAIN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19202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6A7C"/>
                </a:solidFill>
                <a:latin typeface="Inter"/>
              </a:rPr>
              <a:t>2 on-chain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918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6B2A"/>
                </a:solidFill>
                <a:latin typeface="Inter"/>
              </a:rPr>
              <a:t>Option A, x402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5204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35204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settle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0233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E06B2A"/>
                </a:solidFill>
                <a:latin typeface="Inter"/>
              </a:rPr>
              <a:t>ON-CHAIN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5204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26280" y="35204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settle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0233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E06B2A"/>
                </a:solidFill>
                <a:latin typeface="Inter"/>
              </a:rPr>
              <a:t>ON-CHAIN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5204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09360" y="35204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settle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E06B2A"/>
                </a:solidFill>
                <a:latin typeface="Inter"/>
              </a:rPr>
              <a:t>ON-CHAIN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5204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606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92440" y="35204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0233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06A7C"/>
                </a:solidFill>
                <a:latin typeface="Inter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35204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875520" y="35204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settle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40233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E06B2A"/>
                </a:solidFill>
                <a:latin typeface="Inter"/>
              </a:rPr>
              <a:t>ON-CHAIN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5204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06B2A"/>
                </a:solidFill>
                <a:latin typeface="Inter"/>
              </a:rPr>
              <a:t>10 on-chain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8920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9E6F"/>
                </a:solidFill>
                <a:latin typeface="Inter"/>
              </a:rPr>
              <a:t>Option B, MPP session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51206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743200" y="51206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open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6235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9E6F"/>
                </a:solidFill>
                <a:latin typeface="Inter"/>
              </a:rPr>
              <a:t>ON-CHAIN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26280" y="51206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606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26280" y="51206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voucher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56235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06A7C"/>
                </a:solidFill>
                <a:latin typeface="Inter"/>
              </a:rPr>
              <a:t>OFF-CHAIN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51206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606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309360" y="51206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voucher 2..9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6235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06A7C"/>
                </a:solidFill>
                <a:latin typeface="Inter"/>
              </a:rPr>
              <a:t>OFF-CHAIN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92440" y="51206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092440" y="51206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settle (batch)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56235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9E6F"/>
                </a:solidFill>
                <a:latin typeface="Inter"/>
              </a:rPr>
              <a:t>ON-CHAIN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75520" y="5120640"/>
            <a:ext cx="1691640" cy="731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875520" y="51206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B212C"/>
                </a:solidFill>
                <a:latin typeface="Inter"/>
              </a:rPr>
              <a:t>close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562356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9E6F"/>
                </a:solidFill>
                <a:latin typeface="Inter"/>
              </a:rPr>
              <a:t>ON-CHAIN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51206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9E6F"/>
                </a:solidFill>
                <a:latin typeface="Inter"/>
              </a:rPr>
              <a:t>3 on-chain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A7C"/>
                </a:solidFill>
                <a:latin typeface="Inter"/>
              </a:rPr>
              <a:t>10 requests, single client: pre-deposit 2 tx, x402 10 tx, MPP session 3 tx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Cost crossover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x402 wins below 3 requests per session, MPP wins above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2743200"/>
                <a:gridCol w="164592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Requests</a:t>
                      </a:r>
                    </a:p>
                  </a:txBody>
                  <a:tcPr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Option A x402 (txs)</a:t>
                      </a:r>
                    </a:p>
                  </a:txBody>
                  <a:tcPr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Option B MPP (txs)</a:t>
                      </a:r>
                    </a:p>
                  </a:txBody>
                  <a:tcPr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Cheaper</a:t>
                      </a:r>
                    </a:p>
                  </a:txBody>
                  <a:tcPr>
                    <a:solidFill>
                      <a:srgbClr val="1B212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3 (open + deliver + close)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06B2A"/>
                          </a:solidFill>
                        </a:rPr>
                        <a:t>x402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606A7C"/>
                          </a:solidFill>
                        </a:rPr>
                        <a:t>tie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9E6F"/>
                          </a:solidFill>
                        </a:rPr>
                        <a:t>MPP saves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9E6F"/>
                          </a:solidFill>
                        </a:rPr>
                        <a:t>MPP saves 97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B212C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9E6F"/>
                          </a:solidFill>
                        </a:rPr>
                        <a:t>MPP saves 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0" y="1645920"/>
            <a:ext cx="3474720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212C"/>
                </a:solidFill>
                <a:latin typeface="Inter"/>
              </a:rPr>
              <a:t>Daily gas,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03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06A7C"/>
                </a:solidFill>
                <a:latin typeface="Inter"/>
              </a:rPr>
              <a:t>~$0.05 per delivery 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51460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5 req/day:</a:t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  x402  $0.25</a:t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  MPP   $0.15</a:t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50 req/day:</a:t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  x402  $2.50</a:t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  MPP   $0.15</a:t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/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500 req/day:</a:t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  x402  $25.00</a:t>
            </a:r>
          </a:p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  MPP   $0.15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B212C"/>
                </a:solidFill>
                <a:latin typeface="Inter"/>
              </a:rPr>
              <a:t>Crossover at N = 3.  On Gnosis (gas ~$0.0005), the dollar difference is negligible.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A7C"/>
                </a:solidFill>
                <a:latin typeface="Inter"/>
              </a:rPr>
              <a:t>On Gnosis, the choice is about UX, deposit lock, and ecosystem fit, not gas.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Contract changes,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Both options leave the marketplace core untouched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108960" cy="411480"/>
          </a:xfrm>
          <a:prstGeom prst="roundRect">
            <a:avLst>
              <a:gd name="adj" fmla="val 6000"/>
            </a:avLst>
          </a:prstGeom>
          <a:solidFill>
            <a:srgbClr val="1B212C"/>
          </a:solidFill>
          <a:ln w="9525">
            <a:solidFill>
              <a:srgbClr val="1B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Component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508760"/>
            <a:ext cx="4206240" cy="411480"/>
          </a:xfrm>
          <a:prstGeom prst="roundRect">
            <a:avLst>
              <a:gd name="adj" fmla="val 6000"/>
            </a:avLst>
          </a:prstGeom>
          <a:solidFill>
            <a:srgbClr val="E06B2A"/>
          </a:solidFill>
          <a:ln w="9525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03320" y="150876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Option A, x402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508760"/>
            <a:ext cx="3749039" cy="411480"/>
          </a:xfrm>
          <a:prstGeom prst="roundRect">
            <a:avLst>
              <a:gd name="adj" fmla="val 6000"/>
            </a:avLst>
          </a:prstGeom>
          <a:solidFill>
            <a:srgbClr val="1A9E6F"/>
          </a:solidFill>
          <a:ln w="9525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55279" y="150876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Option B, MPP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65960"/>
            <a:ext cx="11155680" cy="320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MechMarketplace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9659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B212C"/>
                </a:solidFill>
                <a:latin typeface="Inter"/>
              </a:rPr>
              <a:t>unchanged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9659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B212C"/>
                </a:solidFill>
                <a:latin typeface="Inter"/>
              </a:rPr>
              <a:t>unchanged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286000"/>
            <a:ext cx="11155680" cy="3200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317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5800" y="22860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OlasMech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2860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B212C"/>
                </a:solidFill>
                <a:latin typeface="Inter"/>
              </a:rPr>
              <a:t>unchanged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2860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B212C"/>
                </a:solidFill>
                <a:latin typeface="Inter"/>
              </a:rPr>
              <a:t>unchanged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11155680" cy="320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26060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BalanceTrackerBase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60604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B212C"/>
                </a:solidFill>
                <a:latin typeface="Inter"/>
              </a:rPr>
              <a:t>unchanged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60604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B212C"/>
                </a:solidFill>
                <a:latin typeface="Inter"/>
              </a:rPr>
              <a:t>unchanged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926080"/>
            <a:ext cx="11155680" cy="3200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317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5800" y="29260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Karma + fees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292608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B212C"/>
                </a:solidFill>
                <a:latin typeface="Inter"/>
              </a:rPr>
              <a:t>unchanged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9260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B212C"/>
                </a:solidFill>
                <a:latin typeface="Inter"/>
              </a:rPr>
              <a:t>unchanged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46120"/>
            <a:ext cx="11155680" cy="320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32461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Existing payment families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2461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B212C"/>
                </a:solidFill>
                <a:latin typeface="Inter"/>
              </a:rPr>
              <a:t>unchanged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2461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B212C"/>
                </a:solidFill>
                <a:latin typeface="Inter"/>
              </a:rPr>
              <a:t>unchanged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566160"/>
            <a:ext cx="11155680" cy="3200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317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5800" y="35661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BalanceTrackerX402.sol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5661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06B2A"/>
                </a:solidFill>
                <a:latin typeface="Inter"/>
              </a:rPr>
              <a:t>NEW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5661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06A7C"/>
                </a:solidFill>
                <a:latin typeface="Inter"/>
              </a:rPr>
              <a:t>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886200"/>
            <a:ext cx="11155680" cy="320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5800" y="38862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MechFixedPriceTokenX402.sol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38862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06B2A"/>
                </a:solidFill>
                <a:latin typeface="Inter"/>
              </a:rPr>
              <a:t>NEW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38862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06A7C"/>
                </a:solidFill>
                <a:latin typeface="Inter"/>
              </a:rPr>
              <a:t>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206240"/>
            <a:ext cx="11155680" cy="3200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317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85800" y="42062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MechFactoryFixedPriceTokenX402.sol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420624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06B2A"/>
                </a:solidFill>
                <a:latin typeface="Inter"/>
              </a:rPr>
              <a:t>NEW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420624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06A7C"/>
                </a:solidFill>
                <a:latin typeface="Inter"/>
              </a:rPr>
              <a:t>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526280"/>
            <a:ext cx="11155680" cy="320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85800" y="45262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MppEscrow.sol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3320" y="452628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06A7C"/>
                </a:solidFill>
                <a:latin typeface="Inter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45262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A9E6F"/>
                </a:solidFill>
                <a:latin typeface="Inter"/>
              </a:rPr>
              <a:t>NEW (1 per chain)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846320"/>
            <a:ext cx="11155680" cy="3200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317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85800" y="48463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BalanceTrackerMppSession.sol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3320" y="48463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06A7C"/>
                </a:solidFill>
                <a:latin typeface="Inter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48463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A9E6F"/>
                </a:solidFill>
                <a:latin typeface="Inter"/>
              </a:rPr>
              <a:t>NEW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166360"/>
            <a:ext cx="11155680" cy="320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85800" y="51663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MechFixedPriceTokenMppSession.sol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03320" y="51663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06A7C"/>
                </a:solidFill>
                <a:latin typeface="Inter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51663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A9E6F"/>
                </a:solidFill>
                <a:latin typeface="Inter"/>
              </a:rPr>
              <a:t>NEW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486400"/>
            <a:ext cx="11155680" cy="3200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317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85800" y="54864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MechFactoryFixedPriceTokenMppSession.sol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03320" y="54864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06A7C"/>
                </a:solidFill>
                <a:latin typeface="Inter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54864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A9E6F"/>
                </a:solidFill>
                <a:latin typeface="Inter"/>
              </a:rPr>
              <a:t>NEW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B212C"/>
                </a:solidFill>
                <a:latin typeface="Inter"/>
              </a:rPr>
              <a:t>Total new contracts:  Option A = 3   ·   Option B = 4 (escrow + 3 standard)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Strengths and weaknesses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What each option gives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532120" cy="4663440"/>
          </a:xfrm>
          <a:prstGeom prst="roundRect">
            <a:avLst>
              <a:gd name="adj" fmla="val 6000"/>
            </a:avLst>
          </a:prstGeom>
          <a:solidFill>
            <a:srgbClr val="FBEFE3"/>
          </a:solidFill>
          <a:ln w="19050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6B2A"/>
                </a:solidFill>
                <a:latin typeface="Inter"/>
              </a:rPr>
              <a:t>OPTION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12C"/>
                </a:solidFill>
                <a:latin typeface="Inter"/>
              </a:rPr>
              <a:t>x402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6B2A"/>
                </a:solidFill>
                <a:latin typeface="Inter"/>
              </a:rP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14k-service ecosystem on x402scan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3639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Auto-discovery via Bazaar facilitators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92423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Coinbase + genai SDKs already exist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4845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No deposit lock for the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0448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Smaller audit surface (3 contracts)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PR #148 spec already reviewed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6B2A"/>
                </a:solidFill>
                <a:latin typeface="Inter"/>
              </a:rPr>
              <a:t>WEAKNESSES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1 on-chain tx per request, no batching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48071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Needs USDC with EIP-3009 (Gnosis bridged USDC unverified)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0410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Settlement race: client can move USDC before settle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013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Per-request gas adds up at high volume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554480"/>
            <a:ext cx="5532120" cy="4663440"/>
          </a:xfrm>
          <a:prstGeom prst="roundRect">
            <a:avLst>
              <a:gd name="adj" fmla="val 6000"/>
            </a:avLst>
          </a:prstGeom>
          <a:solidFill>
            <a:srgbClr val="E8F5EF"/>
          </a:solidFill>
          <a:ln w="1905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92240" y="1691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9E6F"/>
                </a:solidFill>
                <a:latin typeface="Inter"/>
              </a:rPr>
              <a:t>OPTION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96596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12C"/>
                </a:solidFill>
                <a:latin typeface="Inter"/>
              </a:rPr>
              <a:t>MPP 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6032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9E6F"/>
                </a:solidFill>
                <a:latin typeface="Inter"/>
              </a:rPr>
              <a:t>STRENGTHS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88036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Zero on-chain cost per request after 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13639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Native batched settlement (1 tx for N deliveries)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392423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Any ERC-20 (no EIP-3009 needed, works on Gnosis)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64845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Production-proven: pearl-mini ↔ wildcard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90448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IETF standards track (longer-term protocol bet)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16052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No settlement race (deposit already locked)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7200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9E6F"/>
                </a:solidFill>
                <a:latin typeface="Inter"/>
              </a:rPr>
              <a:t>WEAKNESSES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9204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Tiny ecosystem (~226 services on MPPscan)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148071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Client must lock a deposit (capital cost)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40410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Larger audit surface (4 contracts including escrow)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66013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First request pays open() overhead, expensive for one-shot clients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How to decide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Two questions usually settle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6FDB"/>
                </a:solidFill>
                <a:latin typeface="Inter"/>
              </a:rPr>
              <a:t>Question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212C"/>
                </a:solidFill>
                <a:latin typeface="Inter"/>
              </a:rPr>
              <a:t>How many requests will a typical client send in one session?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5448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6FDB"/>
                </a:solidFill>
                <a:latin typeface="Inter"/>
              </a:rPr>
              <a:t>Question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212C"/>
                </a:solidFill>
                <a:latin typeface="Inter"/>
              </a:rPr>
              <a:t>Which chain are we targeting first (does USDC support EIP-3009)?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29184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0"/>
                <a:gridCol w="347472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If...</a:t>
                      </a:r>
                    </a:p>
                  </a:txBody>
                  <a:tcPr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Pick</a:t>
                      </a:r>
                    </a:p>
                  </a:txBody>
                  <a:tcPr>
                    <a:solidFill>
                      <a:srgbClr val="1B212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12C"/>
                          </a:solidFill>
                        </a:rPr>
                        <a:t>  Casual one-off agent traffic, x402scan discovery matters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E06B2A"/>
                          </a:solidFill>
                        </a:rPr>
                        <a:t>Option A, x402</a:t>
                      </a:r>
                    </a:p>
                  </a:txBody>
                  <a:tcPr>
                    <a:solidFill>
                      <a:srgbClr val="FBEFE3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12C"/>
                          </a:solidFill>
                        </a:rPr>
                        <a:t>  Long-running agents making many requests per session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1A9E6F"/>
                          </a:solidFill>
                        </a:rPr>
                        <a:t>Option B, MPP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12C"/>
                          </a:solidFill>
                        </a:rPr>
                        <a:t>  We want to ship the smaller audit surface 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E06B2A"/>
                          </a:solidFill>
                        </a:rPr>
                        <a:t>Option A, x402</a:t>
                      </a:r>
                    </a:p>
                  </a:txBody>
                  <a:tcPr>
                    <a:solidFill>
                      <a:srgbClr val="FBEFE3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12C"/>
                          </a:solidFill>
                        </a:rPr>
                        <a:t>  Gnosis is the target and EIP-3009 is unavailable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1A9E6F"/>
                          </a:solidFill>
                        </a:rPr>
                        <a:t>Option B, MPP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12C"/>
                          </a:solidFill>
                        </a:rPr>
                        <a:t>  Optimus or similar high-frequency client is the v1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1A9E6F"/>
                          </a:solidFill>
                        </a:rPr>
                        <a:t>Option B, MPP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12C"/>
                          </a:solidFill>
                        </a:rPr>
                        <a:t>  No high-volume client lined up yet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E06B2A"/>
                          </a:solidFill>
                        </a:rPr>
                        <a:t>Option A, x402</a:t>
                      </a:r>
                    </a:p>
                  </a:txBody>
                  <a:tcPr>
                    <a:solidFill>
                      <a:srgbClr val="FBEFE3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A7C"/>
                </a:solidFill>
                <a:latin typeface="Inter"/>
              </a:rPr>
              <a:t>Full decision guide: docs/x402_vs_mpp.md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Open questions and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Things to resolve before locking the choice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45920"/>
            <a:ext cx="201168" cy="201168"/>
          </a:xfrm>
          <a:prstGeom prst="ellipse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12C"/>
                </a:solidFill>
                <a:latin typeface="Inter"/>
              </a:rPr>
              <a:t>Does Gnosis bridged USDC support EIP-3009?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A7C"/>
                </a:solidFill>
                <a:latin typeface="Inter"/>
              </a:rPr>
              <a:t>Blocking for Option A on Gnosis. Verify on-chain before targeting. If no, Option A ships on Base/Optimism first, or we pick Option B.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423160"/>
            <a:ext cx="201168" cy="201168"/>
          </a:xfrm>
          <a:prstGeom prst="ellipse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12C"/>
                </a:solidFill>
                <a:latin typeface="Inter"/>
              </a:rPr>
              <a:t>Settlement race in Option A (between HTTP 200 and on-chain settle)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A7C"/>
                </a:solidFill>
                <a:latin typeface="Inter"/>
              </a:rPr>
              <a:t>Bounded by maxDeliveryRate per request (~$0.05). Mitigated by balance pre-check, validity window, circuit breaker. Documented as accepted risk.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0400"/>
            <a:ext cx="201168" cy="201168"/>
          </a:xfrm>
          <a:prstGeom prst="ellipse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12C"/>
                </a:solidFill>
                <a:latin typeface="Inter"/>
              </a:rPr>
              <a:t>Mech request signature transport (Sig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A7C"/>
                </a:solidFill>
                <a:latin typeface="Inter"/>
              </a:rPr>
              <a:t>How the per-request signature rides alongside the payment header. Body param, custom header, or extra field. Same open item in both specs.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77640"/>
            <a:ext cx="201168" cy="201168"/>
          </a:xfrm>
          <a:prstGeom prst="ellipse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12C"/>
                </a:solidFill>
                <a:latin typeface="Inter"/>
              </a:rPr>
              <a:t>Mech operator hot key for MPP escrow.settle / close (Option 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A7C"/>
                </a:solidFill>
                <a:latin typeface="Inter"/>
              </a:rPr>
              <a:t>Compromise risk bounded (funds only flow to BalanceTracker, not attacker). Same trust model as today's mech Safe ops.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754880"/>
            <a:ext cx="201168" cy="201168"/>
          </a:xfrm>
          <a:prstGeom prst="ellipse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12C"/>
                </a:solidFill>
                <a:latin typeface="Inter"/>
              </a:rPr>
              <a:t>Audit cost differential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A7C"/>
                </a:solidFill>
                <a:latin typeface="Inter"/>
              </a:rPr>
              <a:t>Option A: 3 thin contracts. Option B: 4 contracts including MppEscrow (~200 lines, fund custody). Option B audit is roughly 1.5x Option A.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532120"/>
            <a:ext cx="201168" cy="201168"/>
          </a:xfrm>
          <a:prstGeom prst="ellipse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12C"/>
                </a:solidFill>
                <a:latin typeface="Inter"/>
              </a:rPr>
              <a:t>Do we have a concrete v1 client?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A7C"/>
                </a:solidFill>
                <a:latin typeface="Inter"/>
              </a:rPr>
              <a:t>If a high-volume client (Optimus, internal product) is committed, Option B fits. If not, Option A is the safer first bet.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Path forward, conditional on the chosen 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94176" cy="4389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94176" cy="457200"/>
          </a:xfrm>
          <a:prstGeom prst="roundRect">
            <a:avLst>
              <a:gd name="adj" fmla="val 6000"/>
            </a:avLst>
          </a:prstGeom>
          <a:solidFill>
            <a:srgbClr val="2A6FDB"/>
          </a:solidFill>
          <a:ln w="9525"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6941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BEFORE WE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Verify Gnosis USDC EIP-3009 support on-chain (1 cast call)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Confirm whether a concrete v1 high-volume client is committed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Lock the Sig 2 transport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89120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Get rough audit estimates for both options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554480"/>
            <a:ext cx="3694176" cy="4389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379976" y="1554480"/>
            <a:ext cx="3694176" cy="457200"/>
          </a:xfrm>
          <a:prstGeom prst="roundRect">
            <a:avLst>
              <a:gd name="adj" fmla="val 6000"/>
            </a:avLst>
          </a:prstGeom>
          <a:solidFill>
            <a:srgbClr val="E06B2A"/>
          </a:solidFill>
          <a:ln w="9525">
            <a:solidFill>
              <a:srgbClr val="E0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79976" y="1554480"/>
            <a:ext cx="36941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IF WE PICK OPTION A (x402)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194560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Implement BalanceTrackerX402 + Mech + Factory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926080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Mock USDC with EIP-3009 + contract test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3657600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Port genai x402 client integration into mech behaviour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389120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Deploy to Base testnet, run E2E with genai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5120640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Audit, then mainnet on Base then Optimism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2" y="1554480"/>
            <a:ext cx="3694176" cy="4389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B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211312" y="1554480"/>
            <a:ext cx="3694176" cy="457200"/>
          </a:xfrm>
          <a:prstGeom prst="roundRect">
            <a:avLst>
              <a:gd name="adj" fmla="val 6000"/>
            </a:avLst>
          </a:prstGeom>
          <a:solidFill>
            <a:srgbClr val="1A9E6F"/>
          </a:solidFill>
          <a:ln w="9525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11312" y="1554480"/>
            <a:ext cx="36941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IF WE PICK OPTION B (MPP)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194560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Implement MppEscrow + BalanceTrackerMppSession + Mech + Factory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2926080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Port wildcard/session/voucher.py + store.py into mech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3657600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Deploy escrow per chain, register against marketplace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4389120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Integration test with mppx as the client SDK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2" y="5120640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Inter"/>
              </a:rPr>
              <a:t>•  Audit, then mainnet on the chosen 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12C"/>
                </a:solidFill>
                <a:latin typeface="Inter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A7C"/>
                </a:solidFill>
                <a:latin typeface="Inter"/>
              </a:rPr>
              <a:t>Two paths to the same goal, we pick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155680" cy="4023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6FDB"/>
                </a:solidFill>
                <a:latin typeface="Inter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11680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Inter"/>
              </a:rPr>
              <a:t>Open the marketplace to HTTP-native AI agents. Today's pre-deposit model is hostile to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6FDB"/>
                </a:solidFill>
                <a:latin typeface="Inter"/>
              </a:rPr>
              <a:t>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24912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Inter"/>
              </a:rPr>
              <a:t>Add one new payment family behind the existing paymentType registry. Zero changes to MechMarketplace or OlasMech.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3814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6FDB"/>
                </a:solidFill>
                <a:latin typeface="Inter"/>
              </a:rPr>
              <a:t>Two candidates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438144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Inter"/>
              </a:rPr>
              <a:t>Option A x402 (per-request, smaller scope, plugs into existing 14k-service ecosystem). Option B MPP session (channel-based, zero per-request gas, production-proven in pearl-mini).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51375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6FDB"/>
                </a:solidFill>
                <a:latin typeface="Inter"/>
              </a:rPr>
              <a:t>Decision criteria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151375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Inter"/>
              </a:rPr>
              <a:t>Session length (how many requests per client) + target chain + whether a high-volume client is committed.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6460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6FDB"/>
                </a:solidFill>
                <a:latin typeface="Inter"/>
              </a:rPr>
              <a:t>What we need from this meeting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864608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Inter"/>
              </a:rPr>
              <a:t>Agreement on which option v1 ships, plus the answers to the four open items on slide 14.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A7C"/>
                </a:solidFill>
                <a:latin typeface="Inter"/>
              </a:rPr>
              <a:t>Docs: docs/x402_spec.md  •  docs/mpp_session_spec.md  •  docs/x402_vs_mpp.md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06A7C"/>
                </a:solidFill>
                <a:latin typeface="Inter"/>
              </a:rPr>
              <a:t>Mech Marketplace, API access 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A7C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